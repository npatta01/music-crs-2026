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f92577c05f4bde" /><Relationship Type="http://schemas.openxmlformats.org/officeDocument/2006/relationships/extended-properties" Target="/docProps/app.xml" Id="R0af593b118044a8c" /><Relationship Type="http://schemas.openxmlformats.org/officeDocument/2006/relationships/officeDocument" Target="/ppt/presentation.xml" Id="R6738f7e4f0fc48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cee5587e4c4c95"/>
  </p:sldMasterIdLst>
  <p:notesMasterIdLst>
    <p:notesMasterId xmlns:r="http://schemas.openxmlformats.org/officeDocument/2006/relationships" r:id="Rc376f49112684715"/>
  </p:notesMasterIdLst>
  <p:sldIdLst>
    <p:sldId xmlns:r="http://schemas.openxmlformats.org/officeDocument/2006/relationships" id="256" r:id="Re1113e10417a4301"/>
    <p:sldId xmlns:r="http://schemas.openxmlformats.org/officeDocument/2006/relationships" id="257" r:id="Rd1eac394f52d407f"/>
    <p:sldId xmlns:r="http://schemas.openxmlformats.org/officeDocument/2006/relationships" id="258" r:id="R069964104447447b"/>
    <p:sldId xmlns:r="http://schemas.openxmlformats.org/officeDocument/2006/relationships" id="259" r:id="R94f6467474274083"/>
    <p:sldId xmlns:r="http://schemas.openxmlformats.org/officeDocument/2006/relationships" id="260" r:id="R1bd416038f254f2a"/>
    <p:sldId xmlns:r="http://schemas.openxmlformats.org/officeDocument/2006/relationships" id="261" r:id="R80b7d2f0d1aa436e"/>
    <p:sldId xmlns:r="http://schemas.openxmlformats.org/officeDocument/2006/relationships" id="262" r:id="R29b032eaa9e74b6e"/>
    <p:sldId xmlns:r="http://schemas.openxmlformats.org/officeDocument/2006/relationships" id="263" r:id="R3eda2e23ea084613"/>
    <p:sldId xmlns:r="http://schemas.openxmlformats.org/officeDocument/2006/relationships" id="264" r:id="Re20c07fad78543e8"/>
    <p:sldId xmlns:r="http://schemas.openxmlformats.org/officeDocument/2006/relationships" id="265" r:id="R911fdbac50c943bd"/>
    <p:sldId xmlns:r="http://schemas.openxmlformats.org/officeDocument/2006/relationships" id="266" r:id="Rf3d4102a46f64989"/>
    <p:sldId xmlns:r="http://schemas.openxmlformats.org/officeDocument/2006/relationships" id="267" r:id="R14b3ffbc25af43e7"/>
    <p:sldId xmlns:r="http://schemas.openxmlformats.org/officeDocument/2006/relationships" id="268" r:id="Re8b119d713f64561"/>
    <p:sldId xmlns:r="http://schemas.openxmlformats.org/officeDocument/2006/relationships" id="269" r:id="Rdc021196d9284f7a"/>
    <p:sldId xmlns:r="http://schemas.openxmlformats.org/officeDocument/2006/relationships" id="270" r:id="R934d94a120f846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ee5587e4c4c95" /><Relationship Type="http://schemas.openxmlformats.org/officeDocument/2006/relationships/theme" Target="/ppt/theme/theme1.xml" Id="Rdee9abf4fe5e4870" /><Relationship Type="http://schemas.openxmlformats.org/officeDocument/2006/relationships/notesMaster" Target="/ppt/notesMasters/notesMaster1.xml" Id="Rc376f49112684715" /><Relationship Type="http://schemas.openxmlformats.org/officeDocument/2006/relationships/presProps" Target="/ppt/presProps.xml" Id="R6939f5951b794d6d" /><Relationship Type="http://schemas.openxmlformats.org/officeDocument/2006/relationships/viewProps" Target="/ppt/viewProps.xml" Id="R28040a93fc154d1d" /><Relationship Type="http://schemas.openxmlformats.org/officeDocument/2006/relationships/tableStyles" Target="/ppt/tableStyles.xml" Id="R59f843ee6f224778" /><Relationship Type="http://schemas.openxmlformats.org/officeDocument/2006/relationships/slide" Target="/ppt/slides/slide1.xml" Id="Re1113e10417a4301" /><Relationship Type="http://schemas.openxmlformats.org/officeDocument/2006/relationships/slide" Target="/ppt/slides/slide2.xml" Id="Rd1eac394f52d407f" /><Relationship Type="http://schemas.openxmlformats.org/officeDocument/2006/relationships/slide" Target="/ppt/slides/slide3.xml" Id="R069964104447447b" /><Relationship Type="http://schemas.openxmlformats.org/officeDocument/2006/relationships/slide" Target="/ppt/slides/slide4.xml" Id="R94f6467474274083" /><Relationship Type="http://schemas.openxmlformats.org/officeDocument/2006/relationships/slide" Target="/ppt/slides/slide5.xml" Id="R1bd416038f254f2a" /><Relationship Type="http://schemas.openxmlformats.org/officeDocument/2006/relationships/slide" Target="/ppt/slides/slide6.xml" Id="R80b7d2f0d1aa436e" /><Relationship Type="http://schemas.openxmlformats.org/officeDocument/2006/relationships/slide" Target="/ppt/slides/slide7.xml" Id="R29b032eaa9e74b6e" /><Relationship Type="http://schemas.openxmlformats.org/officeDocument/2006/relationships/slide" Target="/ppt/slides/slide8.xml" Id="R3eda2e23ea084613" /><Relationship Type="http://schemas.openxmlformats.org/officeDocument/2006/relationships/slide" Target="/ppt/slides/slide9.xml" Id="Re20c07fad78543e8" /><Relationship Type="http://schemas.openxmlformats.org/officeDocument/2006/relationships/slide" Target="/ppt/slides/slide10.xml" Id="R911fdbac50c943bd" /><Relationship Type="http://schemas.openxmlformats.org/officeDocument/2006/relationships/slide" Target="/ppt/slides/slide11.xml" Id="Rf3d4102a46f64989" /><Relationship Type="http://schemas.openxmlformats.org/officeDocument/2006/relationships/slide" Target="/ppt/slides/slide12.xml" Id="R14b3ffbc25af43e7" /><Relationship Type="http://schemas.openxmlformats.org/officeDocument/2006/relationships/slide" Target="/ppt/slides/slide13.xml" Id="Re8b119d713f64561" /><Relationship Type="http://schemas.openxmlformats.org/officeDocument/2006/relationships/slide" Target="/ppt/slides/slide14.xml" Id="Rdc021196d9284f7a" /><Relationship Type="http://schemas.openxmlformats.org/officeDocument/2006/relationships/slide" Target="/ppt/slides/slide15.xml" Id="R934d94a120f8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dd08c9c0154f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ea376fb8f4cb7" /><Relationship Type="http://schemas.openxmlformats.org/officeDocument/2006/relationships/notesMaster" Target="/ppt/notesMasters/notesMaster1.xml" Id="Rb25390dcca2f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2701d48344798" /><Relationship Type="http://schemas.openxmlformats.org/officeDocument/2006/relationships/notesMaster" Target="/ppt/notesMasters/notesMaster1.xml" Id="R63424aa25cdf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ae82e75e2841b0" /><Relationship Type="http://schemas.openxmlformats.org/officeDocument/2006/relationships/notesMaster" Target="/ppt/notesMasters/notesMaster1.xml" Id="R1c0277a1d45746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de7b920f04034" /><Relationship Type="http://schemas.openxmlformats.org/officeDocument/2006/relationships/notesMaster" Target="/ppt/notesMasters/notesMaster1.xml" Id="R57f901b07c994a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314d3430a34535" /><Relationship Type="http://schemas.openxmlformats.org/officeDocument/2006/relationships/notesMaster" Target="/ppt/notesMasters/notesMaster1.xml" Id="Ref7ba092810644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2379856cd54eb6" /><Relationship Type="http://schemas.openxmlformats.org/officeDocument/2006/relationships/notesMaster" Target="/ppt/notesMasters/notesMaster1.xml" Id="R31b260748415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f1ce78dc634f9d" /><Relationship Type="http://schemas.openxmlformats.org/officeDocument/2006/relationships/notesMaster" Target="/ppt/notesMasters/notesMaster1.xml" Id="R8e60ad3278e447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40b7b5f8f4e8d" /><Relationship Type="http://schemas.openxmlformats.org/officeDocument/2006/relationships/notesMaster" Target="/ppt/notesMasters/notesMaster1.xml" Id="R4814f80e665f4c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1fe77a75114d5a" /><Relationship Type="http://schemas.openxmlformats.org/officeDocument/2006/relationships/notesMaster" Target="/ppt/notesMasters/notesMaster1.xml" Id="R5b87cce178fe42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d93a9c10834174" /><Relationship Type="http://schemas.openxmlformats.org/officeDocument/2006/relationships/notesMaster" Target="/ppt/notesMasters/notesMaster1.xml" Id="Rc231bab19ca245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23b72b462242ea" /><Relationship Type="http://schemas.openxmlformats.org/officeDocument/2006/relationships/notesMaster" Target="/ppt/notesMasters/notesMaster1.xml" Id="Rd132bd64b6d44e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0e4b3f11284c36" /><Relationship Type="http://schemas.openxmlformats.org/officeDocument/2006/relationships/notesMaster" Target="/ppt/notesMasters/notesMaster1.xml" Id="Rb14fd934f05845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b5cc5409d84293" /><Relationship Type="http://schemas.openxmlformats.org/officeDocument/2006/relationships/notesMaster" Target="/ppt/notesMasters/notesMaster1.xml" Id="Rc618a76fd3b547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5ce97540a741d3" /><Relationship Type="http://schemas.openxmlformats.org/officeDocument/2006/relationships/notesMaster" Target="/ppt/notesMasters/notesMaster1.xml" Id="R58250508446b42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3e062d65a14748" /><Relationship Type="http://schemas.openxmlformats.org/officeDocument/2006/relationships/notesMaster" Target="/ppt/notesMasters/notesMaster1.xml" Id="R199def7f0b424c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60e1b08c641d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c300bfe68b4a8d" /><Relationship Type="http://schemas.openxmlformats.org/officeDocument/2006/relationships/slideLayout" Target="/ppt/slideLayouts/slideLayout2.xml" Id="Rd8adb6a8377b49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adb6a8377b49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f0ab3e7ca4750" /><Relationship Type="http://schemas.openxmlformats.org/officeDocument/2006/relationships/notesSlide" Target="/ppt/notesSlides/notesSlide1.xml" Id="R77a0d675ab98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2eaa2415154766" /><Relationship Type="http://schemas.openxmlformats.org/officeDocument/2006/relationships/notesSlide" Target="/ppt/notesSlides/notesSlide2.xml" Id="R4d1f2f5e128b4f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b4b084a135447f" /><Relationship Type="http://schemas.openxmlformats.org/officeDocument/2006/relationships/notesSlide" Target="/ppt/notesSlides/notesSlide3.xml" Id="Rafd85b68a9784a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2926aaa62f477d" /><Relationship Type="http://schemas.openxmlformats.org/officeDocument/2006/relationships/notesSlide" Target="/ppt/notesSlides/notesSlide4.xml" Id="Rdc0d88e0bcbd46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e069ed3e864c65" /><Relationship Type="http://schemas.openxmlformats.org/officeDocument/2006/relationships/notesSlide" Target="/ppt/notesSlides/notesSlide5.xml" Id="R40e00dde0cda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c66b7e2e5c4411" /><Relationship Type="http://schemas.openxmlformats.org/officeDocument/2006/relationships/notesSlide" Target="/ppt/notesSlides/notesSlide6.xml" Id="R8538c06d4fde41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ea86eed904480c" /><Relationship Type="http://schemas.openxmlformats.org/officeDocument/2006/relationships/notesSlide" Target="/ppt/notesSlides/notesSlide7.xml" Id="Reb54ac065dbc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046d2f2e494b8a" /><Relationship Type="http://schemas.openxmlformats.org/officeDocument/2006/relationships/notesSlide" Target="/ppt/notesSlides/notesSlide8.xml" Id="R2b35f7b6749846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6d8387a634589" /><Relationship Type="http://schemas.openxmlformats.org/officeDocument/2006/relationships/notesSlide" Target="/ppt/notesSlides/notesSlide9.xml" Id="R26a0cf7d9bd3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ed1b6331f4328" /><Relationship Type="http://schemas.openxmlformats.org/officeDocument/2006/relationships/notesSlide" Target="/ppt/notesSlides/notesSlide10.xml" Id="R5756ab2b83534c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f693c5894f4582" /><Relationship Type="http://schemas.openxmlformats.org/officeDocument/2006/relationships/notesSlide" Target="/ppt/notesSlides/notesSlide11.xml" Id="R1a1e038f620249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1414ad3624380" /><Relationship Type="http://schemas.openxmlformats.org/officeDocument/2006/relationships/notesSlide" Target="/ppt/notesSlides/notesSlide12.xml" Id="R27041ad02c5442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50b052c2e94ff3" /><Relationship Type="http://schemas.openxmlformats.org/officeDocument/2006/relationships/notesSlide" Target="/ppt/notesSlides/notesSlide13.xml" Id="Rd728e6fba3d74b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8cd5febad94bee" /><Relationship Type="http://schemas.openxmlformats.org/officeDocument/2006/relationships/notesSlide" Target="/ppt/notesSlides/notesSlide14.xml" Id="Rab4e1342b08c45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8132d1b09b45a9" /><Relationship Type="http://schemas.openxmlformats.org/officeDocument/2006/relationships/notesSlide" Target="/ppt/notesSlides/notesSlide15.xml" Id="R2b83d755acde40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FE353-DC68-424C-8B50-F2D85B8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6286F-C3CB-4119-B921-BCBE5751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GEN-CRS TUTORIAL -&gt; MUSIC-CRS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28D87-A878-4FF2-AC44-7C4BE557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7429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</a:pPr>
            <a:r>
              <a:rPr sz="31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What is useful for this competition?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60CD1-6A4A-4AD2-9E96-60B33E1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76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standalone guide for reading the Gen-CRS 2025 tutorial through the lens of Music-CRS: retrieve 20 catalog tracks from a conversation, then write a grounded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C8B2-AA2D-43C2-9518-D9EBFB66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5A98F-AEF9-4FFF-B99D-9200D2B5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3254D-BF4E-4EC3-AB20-3A151A07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AA645-44B1-4104-89CB-4133B254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247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Multi-turn user and assistant context: likes, dislikes, constraints, pivots, and prior recommendations.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4EBF5-2F11-4067-AAE3-4B89877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2E898-06B8-4B4E-9303-5E40F57B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458F4-E6BB-4896-B85B-0573137B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14725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3D3CA-68E5-4B4D-8B29-C5AC8AF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10000"/>
            <a:ext cx="2247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structured memory of the request: entities, mood, constraints, negatives, anchors, and open intent.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F74F7-E5D3-4FFB-8630-0404566B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5C7F3-95DE-4B8C-BCE6-D2ED752B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68FA9-28E9-4417-9447-E82365FC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14725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183E-393A-4C60-A4B5-9751C1C7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10000"/>
            <a:ext cx="2247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Sparse exact matching plus dense semantic matching, fused into a candidate pool that reranking can improve.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56DBA-1702-4CC8-8A4E-64819CD5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F70B7-4958-4153-BA87-DDE3F60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4BA5F-E8EF-40FE-A50F-140613E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53025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Grounded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3CE4E-6922-4E07-80BA-D519740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48300"/>
            <a:ext cx="2247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Exactly 20 track IDs from the catalog plus a natural-language answer that does not invent unsupported facts.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95650" y="4000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81750" y="4000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3" name=""/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143500" y="46101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4" name=""/>
          <p:cNvCxnSpPr>
            <a:stCxn xmlns:a="http://schemas.openxmlformats.org/drawingml/2006/main" id="13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81750" y="4000500"/>
            <a:ext cx="609600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A000C-FDAB-41C4-8C99-CDE2C591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EE0A0-C015-4C64-A816-5AF0922C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01DEC-4040-485F-AEB1-6F63EC3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9650"/>
            <a:ext cx="2628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Main takeaway: use the tutorial's Gen-CRS ideas as architecture guidance, but keep the competition system catalog-grounded and measurable.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872CB-E635-43CB-BC6F-D8B2FA43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8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Sources: Gen-CRS 2025 tutorial PDF; Music-CRS challenge page; local dev-set analyses.</a:t>
            </a:r>
          </a:p>
        </p:txBody>
      </p:sp>
    </p:spTree>
    <p:extLst>
      <p:ext uri="{BB962C8B-B14F-4D97-AF65-F5344CB8AC3E}">
        <p14:creationId xmlns:p14="http://schemas.microsoft.com/office/powerpoint/2010/main" val="961887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09C3C-47F1-4576-87F4-ECB525AB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EE184-4A00-4FA9-9DB8-F83B9D69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PRIMER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67918-B4AF-4253-8544-044BEA2A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 recommender system chooses items for a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23101-4950-4793-8740-81DC01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At its simplest, a recommender system ranks a catalog. The input is evidence about the user and the context. The output is an ordered list of items.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E7B87-C846-4F67-8771-6A9D802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A320D-4012-4835-AC25-FE67F1B3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E075A-86C5-4972-A96A-4DAB4267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47975"/>
            <a:ext cx="22002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User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71759-8A37-41BF-B34A-D55B7DE0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2002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Examples: clicked tracks, liked artists, rejected genres, conversation text, or a current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DC5D6-5774-4BE0-8763-C7840F1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2415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56263-2C53-444E-86C6-83E2D2AB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241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EB9E9-D077-4135-ADA7-19D7C228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47975"/>
            <a:ext cx="22002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4944A-B204-409B-886B-8B7E0F88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43250"/>
            <a:ext cx="22002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The fixed set of items the system is allowed to recommend. In Music-CRS this is about 47k tracks.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43F40-42E9-4C91-A7C8-EC56F52C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A91B9-89F8-45FF-BB6A-5EF56185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385F8-5957-4E50-B91A-347F0F09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47975"/>
            <a:ext cx="22002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Ranking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16299-048A-487B-B0CE-C27033A7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22002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Scores candidate items using text, metadata, embeddings, collaborative patterns, or learned features.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B9377-CA53-4923-8370-00A2202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62500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25F74-C27B-4BBD-B92F-2FEBA1A1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62500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39221-70CA-4A73-90DC-E12431DB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86325"/>
            <a:ext cx="22002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Recommendation 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042CE-1923-48F3-8DB4-10FF4A5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81600"/>
            <a:ext cx="22002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The top results after filtering, ranking, and diversity or safety checks.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86125" y="33242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86500" y="33242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3" name=""/>
          <p:cNvCxnSpPr>
            <a:stCxn xmlns:a="http://schemas.openxmlformats.org/drawingml/2006/main" id="13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286500" y="3324225"/>
            <a:ext cx="571500" cy="1971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8962C-A61A-4C19-BD9E-983BE2E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24150"/>
            <a:ext cx="1619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801C8-2B1D-43A7-B48B-C210524E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2415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AEDD2-0AA1-4FE2-A76D-DF772D2C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57500"/>
            <a:ext cx="12954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Hard boundary: valid answers use only track IDs from the provided catalog.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1A62D-68AE-4F5A-B794-31CCE3D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942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Useful mental model: recommendation is not only generation. It is search + ranking + constraints.</a:t>
            </a:r>
          </a:p>
        </p:txBody>
      </p:sp>
    </p:spTree>
    <p:extLst>
      <p:ext uri="{BB962C8B-B14F-4D97-AF65-F5344CB8AC3E}">
        <p14:creationId xmlns:p14="http://schemas.microsoft.com/office/powerpoint/2010/main" val="760114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0793C1-7CA7-454C-935E-731B02E4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E2C68-A713-47FB-9EA8-B0D4C9F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PRIMER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7F65D-10E6-43A5-8504-6DC0B3BF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 CRS is a recommender that remembers a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F42B7-EF43-44FE-8A3C-9AEA269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CRS means Conversational Recommender System. The system must interpret the latest user turn in context, not as an isolated search query.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98ED6-2C01-4E39-B282-6D2E97B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9948E-46C6-4040-A5B0-5B882AC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DC28F-9D5B-4615-8606-3DCC1049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96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Turn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96DB7-3E6D-4EE4-A4E2-16C4F6B8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User: I want calm electronic music.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2CC63-7E39-4749-99CB-C42F93BC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E5813-B6AF-47FC-9C9D-7A0531DB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6993A-2AFD-4B3C-976E-336235B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196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FB0F4-FC99-43ED-A1AA-2D5138DA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38475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Recommends a few tracks and explains why.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2ACAB-F714-4915-B541-3B7CB67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9D61B-14CB-477C-A813-18D0989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12696-3757-48C1-9749-5699635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196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Turn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2AB66-77DD-4D77-B3C0-D593739D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38475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User: More like the second one, but less sleepy.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3827F-A669-4382-8896-683D0D5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69C4B-29FD-4FBE-9972-06F61463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4AA5D-2A4B-44E8-B71B-7DDC8A8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71975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State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15F58-0EA0-4E33-93AC-695EACA3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67250"/>
            <a:ext cx="2819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The second recommendation becomes an anchor. The new request changes energy while keeping mood and style.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057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0250" y="3057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3" name=""/>
          <p:cNvCxnSpPr>
            <a:stCxn xmlns:a="http://schemas.openxmlformats.org/drawingml/2006/main" id="13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667500" y="3495675"/>
            <a:ext cx="8096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5D7C1-61A9-47F0-93EA-ADE990B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2095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B76F3-FBB9-46B9-879C-E829F932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3BBCC2-784B-466A-9DE1-68346DC6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177165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Why this matters: words like 'more like that' only work if the system tracks earlier recommendations and feedback.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628E8-7E3E-46D9-8BEF-C477EBC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962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For Music-CRS, conversational memory is not a nice-to-have; it is the bridge from dialogue to catalog retrieval.</a:t>
            </a:r>
          </a:p>
        </p:txBody>
      </p:sp>
    </p:spTree>
    <p:extLst>
      <p:ext uri="{BB962C8B-B14F-4D97-AF65-F5344CB8AC3E}">
        <p14:creationId xmlns:p14="http://schemas.microsoft.com/office/powerpoint/2010/main" val="206130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FB007-D67A-4F75-8FC9-125C0DD5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DC949-ED2D-4FCA-8420-8CFD577E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8249B-EB8E-44E2-8B3E-50D1D8D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Music-CRS asks for 20 track IDs plus a grounded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ED3AC-85C9-4CB6-8852-05ECBFF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A05BB-C42A-485E-BD47-C48D8050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7751D-6A4B-4B23-AECF-7967C061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8AB44-1C03-4865-B0B0-CAE2BB1B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15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multi-turn music conversation. The target track is hidden at inference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5BF6B-280E-4400-99AF-DF292AF1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2714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338BF-7C17-4130-98B3-C4B5D7B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7B7E0-E290-4AB1-8C40-C50DB431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19325"/>
            <a:ext cx="2486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Your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262F2-B128-4936-9F4E-94C3B27F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24860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Understand the request, retrieve from the fixed catalog, rank candidates, and generate a short reply.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96D30-336D-48E6-A5EC-C7CD24A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95500"/>
            <a:ext cx="2714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500C3-5EED-4C25-B645-FD22659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9550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E7354-4374-403C-8F42-D6BA14CF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19325"/>
            <a:ext cx="2486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Required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A4821-C5E2-4132-B604-65EBB51D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14600"/>
            <a:ext cx="24860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1. A list of 20 track IDs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2. A natural-language answer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3. No out-of-catalog recommendations</a:t>
            </a:r>
          </a:p>
        </p:txBody>
      </p: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62300" y="2676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448425" y="2676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D9D5D-E9B0-4E83-8E97-3CFEA3C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FB256-F217-4BF7-A67A-62F1F43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BEB22-2744-4C62-9393-123683FF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4629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The ranking metrics care where the true target appears in the 20-track list. The response text still matters, but retrieval quality is the core scoring surface.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1AFBF-5638-404A-935E-7808E617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2791B-1211-4F67-8125-F71431A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E732A-7E52-4E5A-9E07-14F9E5B5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3105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 Large Language Model can help write and interpret language. It should not be the only mechanism that decides which catalog IDs exist.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8849F-73F7-4373-B8A0-6D49120D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6193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00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What gets evaluated?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138D0-6554-49A5-93E5-8A0519E8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5524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Hit / Recall: did the target appear in the retrieved list?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NDCG: did it appear high enough to be useful?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MRR: how early was the first correct result?</a:t>
            </a:r>
          </a:p>
        </p:txBody>
      </p:sp>
    </p:spTree>
    <p:extLst>
      <p:ext uri="{BB962C8B-B14F-4D97-AF65-F5344CB8AC3E}">
        <p14:creationId xmlns:p14="http://schemas.microsoft.com/office/powerpoint/2010/main" val="2046135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19679-6165-4F5B-BD84-812A817C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6353E-96F3-4AE0-977E-FAFE2934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6DEBB-2F3D-4FA7-9D03-7A485B1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Multi-turn music recommendation needs explicit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A6495-906E-4C24-A1A8-2A3EC66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single rewritten query often loses something: prior likes, rejected artists, track anchors, mood changes, or constraints that were implied earlier.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C8FEE-82C9-4652-9136-FCF5309F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ECC98-4131-410E-89FA-8600BF1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5CD4-BEBD-43DB-88B7-68C7B0C5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Latest user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EE014-C253-4243-B4BF-2CDF45E2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152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"More like the second one, but less sleepy."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0A8AF-15AF-42B0-B630-97DA9C5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5183F-455E-4E60-AC5A-26F5BEF4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E0A88-DB18-408E-81A7-4EB29694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66975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ConversationState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795F7-1F5C-4D44-BB9A-6887DAB2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27241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Anchor: previous second track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Keep: electronic, calm, female vocal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Change: more energy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Avoid: sleepy/ambient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E9E5C-B969-478E-BA44-DCFB5E6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606B3-CC0A-4793-B66B-6EBBB2E6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27DBF-E486-4709-B283-D7230E71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66975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Retrieval 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FB85C-E0E6-437F-BC49-B096BE4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27241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Sparse view keeps exact names and tags.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Dense view expresses mood and similarity.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Filters preserve hard constraints.</a:t>
            </a:r>
          </a:p>
        </p:txBody>
      </p: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2300" y="31242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648450" y="31242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44020-E34B-4EDD-BFF6-ACBC41CD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93D50-E35E-4A17-9353-8650639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AA96E-A9BD-4EA9-9AA6-67F9C50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7677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State is not just a prompt trick. It is the contract that every later module can inspect, test, ablate, and debug.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F1207-B591-42E3-896B-B5085FC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71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Recommended state fields: intent, positive anchors, negative anchors, artists, tracks, genres/tags, mood, era, language, energy, uncertainty, and source turn references.</a:t>
            </a:r>
          </a:p>
        </p:txBody>
      </p:sp>
    </p:spTree>
    <p:extLst>
      <p:ext uri="{BB962C8B-B14F-4D97-AF65-F5344CB8AC3E}">
        <p14:creationId xmlns:p14="http://schemas.microsoft.com/office/powerpoint/2010/main" val="672797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A9C24B-7B80-4AF2-8458-120B0E38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AD094-B6C8-4106-AAEC-68D16C8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TUTORIAL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AB2B3-7BCD-487A-A43C-568283EF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The Gen-CRS tutorial gives three system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78A60-E744-438D-B294-B180F12B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means Generative Conversational Recommender System: a CRS that uses generative AI for understanding, planning, explanation, or recommendation.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7D9DF-A0C4-4342-AD68-B7A3122F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A9816-ABBA-4CD9-A119-8D22637A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1A526-0F5E-464C-A2B6-21C39139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1. Unified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FA606-766F-49DC-8B95-0973A4FD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62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One model reads the conversation and directly produces recommendations and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Useful for demos, risky for catalog IDs.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C6FA8-8363-4FDB-AD57-6A1C95AD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80315-F7EB-4C50-B71A-A0A9D98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58A2A-7172-4A94-A6A0-0518CB0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4797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2. Modular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480C0-B499-482E-9C18-04F5932E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262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Separate modules do state tracking, retrieval, ranking, and response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Best fit for Music-CRS.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FF738-88F8-48D8-BED5-1DF6F005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0BB19-0D12-4809-A5DC-5A195F0E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ACEC0-1B5D-4F59-8DE3-AE8D48FE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4797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3. Agentic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72CC7-559C-42E7-B8C8-71D786BF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62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planner chooses tools, retrieves evidence, revises, and decides how to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Useful later, expensive to evaluate.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0799A-FA9E-4E72-86A4-B4DABECF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832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CEBF0-8AFB-4993-A1B1-E021BC8F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57218-8772-45C1-B9D1-3581FF13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8001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For this competition, the tutorial's most actionable pattern is modular Gen-CRS: use an LLM where language helps, and retrieval/ranking where catalog correctness matters.</a:t>
            </a:r>
          </a:p>
        </p:txBody>
      </p:sp>
    </p:spTree>
    <p:extLst>
      <p:ext uri="{BB962C8B-B14F-4D97-AF65-F5344CB8AC3E}">
        <p14:creationId xmlns:p14="http://schemas.microsoft.com/office/powerpoint/2010/main" val="1735359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612AD-367B-4DAB-A98B-1218EB6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D4F5-53FB-4320-9529-8EC61779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2DC06-10B0-4567-A582-722F154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Pure LLM recommendation is risky for catalog-grounded scoring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5FBA7-4725-45E8-937C-95A14179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general LLM may understand the conversation well and still fail the competition mechanics: exact catalog IDs, ranked retrieval, and reproducible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5718-75AA-429E-9B68-4DA209C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E4E6E-0486-48C9-A10B-9281A1CF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8926E-5EB1-46D6-BC0F-AC8B857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Failure mode: hallucination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BEB30-025F-4254-B3F0-E5372604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628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Model names a plausible song, artist, or explanation that is not tied to a catalog row.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930A0-B434-4712-8617-71E69E6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B3CF7-25D8-42A7-BCD8-0930D78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5077C-0877-46DD-983F-797E84E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2892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Failure mode: weak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374F5-AA95-488B-8D37-6B75099D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24200"/>
            <a:ext cx="2628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If the model never searches broadly, the true target may never enter the 20-track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26688-E0D1-4B48-89F5-E5405C49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05100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0712C-1E9E-45E0-BDE0-6D42E811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051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DBCB7-C5E4-4C46-A1B0-BD0B0C0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2892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Failure mode: hard to ablate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84B84-1868-446D-BE68-B071F226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2628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When one prompt does everything, it is difficult to tell whether state, retrieval, rank, or response failed.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A7F8-250E-4B2C-B499-D246038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EFD4E-B5A8-4DC6-9962-2A01C9A6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21D33-343A-485A-A229-5905907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3962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Use the LLM as an interpreter and writer, not as an unconstrained catalog oracle.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8F1F6-BD84-4981-97E2-1D572192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9105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BF90B-5232-40A1-9044-315D418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910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A24BD-18AD-489C-8322-49C84D37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3962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The safer pattern is Retrieval-Augmented Generation (RAG): retrieve grounded catalog evidence first, then generate from that evidence.</a:t>
            </a:r>
          </a:p>
        </p:txBody>
      </p:sp>
    </p:spTree>
    <p:extLst>
      <p:ext uri="{BB962C8B-B14F-4D97-AF65-F5344CB8AC3E}">
        <p14:creationId xmlns:p14="http://schemas.microsoft.com/office/powerpoint/2010/main" val="890568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226B8-3D65-4BDF-B14F-0FA9591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6973A-A3DC-44D9-9005-D82BE6F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3A091-67FF-4398-AEEF-2DEA74B7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 modular grounded Gen-CRS maps cleanly to the repo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CFB45-9802-4447-A077-08789537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4D8BD-FD25-4D98-9598-13800DB4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5C32A-6F32-4D05-99A1-32812AA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581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Conversation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67B5F-AFF3-435C-88ED-B9557172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581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Full dialogue plus prior assistant recommendations.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EB4BB-83DB-42CC-AD84-0A16CABF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C6B66-B060-4451-8367-12D48337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A0D1B-DC64-47CE-B7B3-6A3582A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90775"/>
            <a:ext cx="177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State tracker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DA237-D6F6-40A4-B51B-E193C596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771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ConversationState with anchors, constraints, positives, negatives, and uncertainty.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D2185-393A-4BA9-9CB9-CA36970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FFA8E-D7C0-4FAB-8384-4503470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BAD9A-2372-4DD5-A4D3-70E790B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90775"/>
            <a:ext cx="177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1269D-9E71-4C2E-BE0B-1BCF9C6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771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BM25 / full-text search plus embedding retrieval over catalog metadata.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69AEA-9D2E-4309-887F-BFBF04F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9791E-DF87-4C0A-9CDA-2666A4D0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71F1F-506D-4262-BB07-A35C0B4D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90775"/>
            <a:ext cx="177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Fusion + rerank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F719D-70DC-41F9-9774-25A4FC4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86050"/>
            <a:ext cx="1771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RRF plus feature-aware reranking and penalties for rejected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868C3-7F90-4363-B9C0-7891059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90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75940-FBBB-475A-8BA8-357922E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E10AF-1B78-4740-AF5E-02DAA62A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90775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Response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C0C93-ED20-4AC9-8C07-609DD4B9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1676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LLM writes from selected tracks and known metadata only.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38400" y="2771775"/>
            <a:ext cx="4000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38700" y="2867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239000" y="2867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39300" y="28670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E26F7-5A18-44C9-921A-D3ECC41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What each module lets us debug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DA381-C624-47D4-A8DA-CE4F2D8D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5715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7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- State tracker: did we remember the right constraints?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7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- Retrieval: did the target enter top 1000?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7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- Reranker: did the target move into top 20?</a:t>
            </a:r>
          </a:p>
          <a:p xmlns:a="http://schemas.openxmlformats.org/drawingml/2006/main">
            <a:pPr>
              <a:lnSpc>
                <a:spcPct val="114000"/>
              </a:lnSpc>
              <a:buNone/>
            </a:pPr>
            <a:r>
              <a:rPr sz="127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- Response: did the explanation stay grounded?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26C7A-6D88-45BB-BF3E-07AF0D7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3810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855807-2B9A-4DD9-B93C-94778FFC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92261-C83A-47E1-983E-72F4C21E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3486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This is the main slide to convert into implementation: shared state in, branch retrieval out, trace everything.</a:t>
            </a:r>
          </a:p>
        </p:txBody>
      </p:sp>
    </p:spTree>
    <p:extLst>
      <p:ext uri="{BB962C8B-B14F-4D97-AF65-F5344CB8AC3E}">
        <p14:creationId xmlns:p14="http://schemas.microsoft.com/office/powerpoint/2010/main" val="2118049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34AE9-F66C-4F76-8556-0DB85FFA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3D347-7C07-4C20-BA0D-0B7BBFAF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STATE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1F598-D1C9-4FC7-8719-85D037D9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ConversationState is the reusable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ECF71-682A-4968-9FDA-68157A7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Instead of asking one prompt to produce one fragile query string, create a structured object that retrieval, ranking, and response modules can all consume.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E9914-55B2-46B9-A50B-F46A3DD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238750" cy="217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52400" tIns="152400" rIns="152400" bIns="15240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intent: "refine previous recommendation"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positive_anchors: ["previous second track", "female vocals"]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negative_anchors: ["too sleepy", "ambient drift"]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artists: { include: [], exclude: ["artist user rejected"] }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sound: { mood: ["warm", "chill"], energy: "medium" }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sparse_query_view: "female vocal electronic warm medium energy"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275" b="0">
                <a:solidFill>
                  <a:srgbClr val="273241"/>
                </a:solidFill>
                <a:latin typeface="Aptos Mono"/>
                <a:ea typeface="Aptos Mono"/>
                <a:cs typeface="Aptos Mono"/>
              </a:rPr>
              <a:t>dense_query_view: "song similar to accepted track but less sleepy"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AB58-2DFE-46BE-9F82-3017B32F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F04F0-BB7E-4CA5-A506-EB92C6BD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D29C2-4844-4BB9-A9BA-2935B78E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71775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Why this is useful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83F0A-DBFF-4761-8F3C-9F42DAE5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28194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It preserves evidence. It supports separate sparse and dense query views. It gives rerankers explicit features. It makes traces readable.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CBEE3-20E3-4FA8-9B06-ADEA6607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3102-9443-479B-AF40-4CA24DC2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3739F-723D-42FD-BB45-CC3F5F40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2724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Implementation principle: every important state field should point back to the turn that created it.</a:t>
            </a:r>
          </a:p>
        </p:txBody>
      </p:sp>
    </p:spTree>
    <p:extLst>
      <p:ext uri="{BB962C8B-B14F-4D97-AF65-F5344CB8AC3E}">
        <p14:creationId xmlns:p14="http://schemas.microsoft.com/office/powerpoint/2010/main" val="1049720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52B55E-B7CA-493D-B624-347B5C84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AF93-83BC-4E62-B8C5-402A940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9024F-8B1C-4F54-AE78-027B58E2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Sparse and dense retrieval solve different problems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68A1D-B675-4E84-B1D9-76A524DF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Hybrid retrieval matters because music requests mix exact references with fuzzy taste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F24BA-5F0A-4C6C-9BD6-449E5069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81927-5E78-401D-AD38-5006CA4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C1ABB-FDDA-463F-BAF7-3D8E546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Sparse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C8D04-BD20-48EE-AD09-512BA7A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628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Keyword-style matching, such as BM25 or full-text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Strong for exact artist names, track titles, tags, years, and lexical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0D6B3-0E71-44A9-A6D9-DE635B5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1378A-AE5D-4A5D-8887-9402755D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B7249-2632-4C6F-B549-2965AF4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5747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Dense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ED5B4-077F-48D9-845F-B5468FBA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628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Embedding/vector matching: similar meanings land close together in vector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Strong for mood, vibe, similarity, and vague descriptions.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66F7E-D2CD-4B9D-B474-8C5C2F4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46C7E-2252-4201-8DAA-A0015E2D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3AD5C-728D-47D6-8BD8-0260E104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57475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678ED-E3AF-411E-9889-5EFDB1E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2628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Combine ranked lists before reranking.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Reciprocal Rank Fusion (RRF) is a simple no-training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DE11C-B812-4BF2-B5CC-6DCED4F7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35FE6-DF00-43B3-8191-FE7E976D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D368E-1734-40A1-B45E-F2FD2AF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748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Do not choose sparse or dense as a religion. Use state to send each branch the view it can actually answer.</a:t>
            </a:r>
          </a:p>
        </p:txBody>
      </p:sp>
    </p:spTree>
    <p:extLst>
      <p:ext uri="{BB962C8B-B14F-4D97-AF65-F5344CB8AC3E}">
        <p14:creationId xmlns:p14="http://schemas.microsoft.com/office/powerpoint/2010/main" val="6306626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389F2-A4AC-4669-BA68-1783905E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06F42-4471-47C9-B826-6F76878B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FA3CD-1052-4765-9488-BB3449AE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Local runs already support hybrid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69DE6-2EEA-4AAA-AF37-8C73917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667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On the dev set, sparse and dense retrieval are complementary. Fusion improves both head ranking and deep candidate coverage.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25912-14F0-43D0-BD7A-34E772F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NDCG@20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41E9B-3948-4D7E-98D0-F4DE7452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BM25 + tags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F64D7-A007-439E-A3FE-36DC5612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3D50E-B7A0-445D-B321-95F4619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296425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F96B3-78E4-4086-A447-B622F70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86075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0.0970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A17F6-E06E-4E0E-81D9-46DA479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4524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Sparse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90A74-8F8B-48C6-B0EA-30999717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Qwen dense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4AF90-2E26-4B47-8C73-C8B39FC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BDDE2-4DC2-4CB4-8612-22C542CD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313233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A74AA-BD93-454B-B148-6450D5B0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57575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2C6FBB"/>
                </a:solidFill>
                <a:latin typeface="Aptos"/>
                <a:ea typeface="Aptos"/>
                <a:cs typeface="Aptos"/>
              </a:rPr>
              <a:t>0.1025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C223C-8155-4321-8BC3-FAC860AA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4524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Embedding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EAB61-1FA1-4E52-9BA3-6DEC2038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Offline RRF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3E1F3-C806-4FD2-975C-37F0EC78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77F20-7556-4E62-9770-6DD7DC1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32759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182DE-02CF-49B5-BCDC-D72FF6E3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29075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B9822B"/>
                </a:solidFill>
                <a:latin typeface="Aptos"/>
                <a:ea typeface="Aptos"/>
                <a:cs typeface="Aptos"/>
              </a:rPr>
              <a:t>0.1072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FE7D3-C1BF-44C3-AF6A-17CBF4B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4524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Sparse + dense fusion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835A8-7CA0-49E1-92BD-F404F395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Hit@1000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1B95D-BBB0-4305-8672-E636F48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BM25 + tags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0987C-0C66-4694-BC8F-D50E2E5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A4D2F-379C-4CB6-9ACD-2E3E5512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28929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4DA60-4074-4B81-ABA5-EF61C257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91125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0.6311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DEBB6-37F4-4AA9-A18E-C63453B7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Qwen dense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14E84-3E68-4CF1-B80F-6EFB0CB5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FA01C-DDF7-4344-BE7D-FEAC9726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317848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0F6D2-EC55-4B4B-9118-F011DB3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10225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2C6FBB"/>
                </a:solidFill>
                <a:latin typeface="Aptos"/>
                <a:ea typeface="Aptos"/>
                <a:cs typeface="Aptos"/>
              </a:rPr>
              <a:t>0.6934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76CF3-7744-41A2-B0D5-AF715D9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Offline RRF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B9D010-DCD3-47DC-962B-971EF9B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57900"/>
            <a:ext cx="3667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2CB3A-5B9E-4816-9F7E-63AA28AA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57900"/>
            <a:ext cx="330499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319415-0DFB-4713-B581-E794CAFF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029325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>
                <a:solidFill>
                  <a:srgbClr val="B9822B"/>
                </a:solidFill>
                <a:latin typeface="Aptos"/>
                <a:ea typeface="Aptos"/>
                <a:cs typeface="Aptos"/>
              </a:rPr>
              <a:t>0.7210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31C34-B239-4710-8A49-E8BBD37D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105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D6920F-B48F-4867-87E8-BA678E00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3D879-93F8-4AFC-9119-EAC96532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7813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Hit@1000 asks whether the target entered the candidate pool. Reranking cannot rescue missing candidates.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A0E216-7BCC-4336-9843-B9303B5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3105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6DE2D9-2D19-4332-81B7-9B88DD7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29A9FC-B61F-4786-BE56-E5578E27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781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Complementarity: dense-only and sparse-only each find targets the other misses.</a:t>
            </a:r>
          </a:p>
        </p:txBody>
      </p:sp>
    </p:spTree>
    <p:extLst>
      <p:ext uri="{BB962C8B-B14F-4D97-AF65-F5344CB8AC3E}">
        <p14:creationId xmlns:p14="http://schemas.microsoft.com/office/powerpoint/2010/main" val="2283469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5A0FA-69A0-48BE-961E-738C1F9A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339F-2202-4353-A665-F35C511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EFA1E-1647-4160-8BF4-E8153760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The challenge data already contains a knowledge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DA3D-3BA1-4589-8E17-A7A640B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grounded system should exploit every catalog signal that is legal and available. The tutorial's RAG idea becomes catalog evidence retrieval 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BD1CF-1229-4053-903C-3F798DC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AA45A-70FD-4206-AA5A-85D36552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D01B-8CFD-43C8-A166-08B90BDC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2343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Track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4A937-A0F3-47C1-96E6-7F1EA03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343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Track ID, title, artist, album, tags, and other catalog text fields.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9E0A0-0567-421A-B404-EE2B4043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458F5-912E-4CA6-8322-C75517D8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BE5A8-F901-48C2-8E9A-64DB0249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2343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Conversation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56016-9885-4AAA-A901-7A6CE94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2343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User and assistant turns that reveal preferences, pivots, and accepted or rejected recommendations.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A45C2-6D05-4966-AA2B-EE362B11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1A6D2-129C-4778-BDF3-C8557E65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E179A-73BD-44CF-A72A-900898F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52725"/>
            <a:ext cx="2343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95BA5-55F4-4CC6-A572-C78BDC25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2343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Precomputed or generated vector representations for semantic retrieval over catalog items.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0EF8D-B2F3-4D2B-84BB-A84E9E3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2435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0EEED-0F84-49AE-A4AB-A377934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243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2BE80-41D4-4ECE-9F8B-151B69A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48175"/>
            <a:ext cx="2343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Optional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2D3EE-F1A3-42AF-A4C5-BE232FA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43450"/>
            <a:ext cx="2343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Collaborative patterns, audio descriptors, lyrics, popularity, or multimodal fields when available and permitted.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D518F-DC14-47FA-85FD-78CCC9E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477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D2747-C5D7-462D-8F60-123906C6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A34AE-A289-4C50-A6CC-BE8BEE9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Key alignment: the same ConversationState decides metadata queries, vector search, and candidate penalties.</a:t>
            </a:r>
          </a:p>
        </p:txBody>
      </p:sp>
    </p:spTree>
    <p:extLst>
      <p:ext uri="{BB962C8B-B14F-4D97-AF65-F5344CB8AC3E}">
        <p14:creationId xmlns:p14="http://schemas.microsoft.com/office/powerpoint/2010/main" val="20520503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7C55B-4A67-4701-B9A3-8DDFD9D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FB8D8-1070-4156-94A6-955BFC1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E9C4B-B920-4B61-81A1-50322B0F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Measure each stage, not only the final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07BEF-F5CA-485F-B19E-93BF86B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4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A modular architecture is only useful if the traces tell you where each conversation failed.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B0AF1-779E-45B3-B3D1-7CDE2C39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174C6-B993-4D6B-B186-94EE427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E743C-5CFF-42A6-97DA-ED970635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2009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State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CB995-C943-44D5-9BC1-EF10B429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20097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Did the system capture the user's actual constraints and anchors?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8F866-EC03-4871-BB5E-5135513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95CFC-7E2B-4DB6-B75E-59CE9E9E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7F8B2-2A52-4563-BA52-E3F13B2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28925"/>
            <a:ext cx="2009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Candidate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16DD1-4F7F-4BA8-A2C1-FF0ADA4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20097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Did the target appear in top 1000 before reranking?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D028B-AA3A-4FD3-9E57-27C1F04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EF808-30D0-46CB-8ACF-C809205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A4930-DA5E-4146-92D8-832267C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28925"/>
            <a:ext cx="2009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Top-20 ranking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C17E5-740D-436F-A94D-12CA1DBE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0097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Did the reranker move the target into the submitted list?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2A756-AB72-4597-8CAB-A70B4772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24E08-D7EF-4DBC-B2D3-1037D17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1952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108A5-E5FD-48F9-B02F-CABEE1E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28925"/>
            <a:ext cx="1724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Response grounding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8F805-660C-4ED4-A749-CB1E7D3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24200"/>
            <a:ext cx="17240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Did the natural-language answer describe selected catalog tracks?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14675" y="3267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76925" y="3267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39175" y="3267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FC509-DB11-4E59-A451-A0AFD019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Trace fields to 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5C988-64F2-4D0F-BA19-48AA925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685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state JSON, sparse query, dense query, sparse ranks, dense ranks, fused ranks, reranker features, rejected evidence, final IDs, response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DE5C2-1C8D-46EC-856C-8611C149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D00BC-B1AF-481C-963B-4E144A2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6915D8-47F7-4C82-83A8-A007B3FD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29150"/>
            <a:ext cx="25336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This prevents false confidence: a better response can hide worse candidate recall, and a better top-20 can hide broken state tracking.</a:t>
            </a:r>
          </a:p>
        </p:txBody>
      </p:sp>
    </p:spTree>
    <p:extLst>
      <p:ext uri="{BB962C8B-B14F-4D97-AF65-F5344CB8AC3E}">
        <p14:creationId xmlns:p14="http://schemas.microsoft.com/office/powerpoint/2010/main" val="7574404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30FFB-EB3F-4355-BB2C-27430F9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B7E0F-31E3-4F74-8E3F-53E87E10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NEXT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BF51D-EE59-4F4A-854F-0BD51933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Build state-to-hybrid retrieval with traces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EE3A-6AA0-4A1E-9E39-F7C9744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F3CFD-6256-4C94-A632-D5E817C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14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44730-B9C8-4828-8D61-E1A082D1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9145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1. Parse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E3D0D-433B-4030-B753-8901AAF0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9145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ConversationState per session with evidence turn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CEC0D-8BEC-4EB0-8A91-60882BEC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008F8-5D91-49FF-95CB-C93ACA9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14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1CEF1-5E5C-48BD-9E06-113B5C6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66975"/>
            <a:ext cx="19145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2. Create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72702-EA88-4D93-87EB-7DDED8E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9145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Separate sparse_query_view and dense_query_view from the same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9FABF-D3AD-4C21-84AD-2C87E45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BA983-D587-4245-8139-AF9EE37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214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972FC-1ED7-4ADD-922B-9D66CC43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66975"/>
            <a:ext cx="19145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3. 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5A4C9-8140-414E-A157-3CA4F50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9145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Run sparse and dense topk=1000 branches.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1D0A7-0F88-4C2C-A69A-7A9036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475E3-D212-4F08-9FB2-305F50A4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14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BE3C6-E1CA-4391-835E-4C857A28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66975"/>
            <a:ext cx="19145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4. Fuse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A9DD2-637B-4CCE-9FB9-EF4C52D8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19145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Use RRF and keep branch ranks as features.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05125" y="286702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95925" y="286702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cxnSp>
        <p:nvCxnSpPr>
          <p:cNvPr id="2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086725" y="286702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4CB"/>
            </a:solidFill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A2A9E-7BF3-4A98-96C1-83555398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A52FC-EEB3-4CAD-973D-14D2C93B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3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547CA-28F7-4D44-9E70-C11BAF3A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95775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5. Rerank + respond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0F62A-1AF8-4C2B-8A7D-4E981BF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91050"/>
            <a:ext cx="2819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Rerank top candidates with state-aware features, submit 20 IDs, and generate a response only from selected tracks.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8FDE7-AEF1-4E4A-8FF5-1D76EBBD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F1A6B-B6DC-45A3-B7AF-EC32E77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8D4FB-8F18-4760-80AF-56DCE0D0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95775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6. Compare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3BD52-E84B-477A-A13D-EAFEB96C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2819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Compare against BM25, dense, rewrite-only, and offline RRF baselines on NDCG@20 and Hit@1000.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E1B40-A754-4FA6-88EB-B0887C4E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847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78E834-4096-4E02-B10B-0AF4BCE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A50555-E2E5-46DA-90DF-5FCBE11D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8153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Success criteria: improve candidate recall, preserve top-20 ranking, and trace which state fields helped or hurt.</a:t>
            </a:r>
          </a:p>
        </p:txBody>
      </p:sp>
    </p:spTree>
    <p:extLst>
      <p:ext uri="{BB962C8B-B14F-4D97-AF65-F5344CB8AC3E}">
        <p14:creationId xmlns:p14="http://schemas.microsoft.com/office/powerpoint/2010/main" val="15882455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20156-13CC-4026-9BED-5B40AE3C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75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2025 tutorial x Music-CRS |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BBA12-FECA-4DEF-AC08-800650CE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00" b="1">
                <a:solidFill>
                  <a:srgbClr val="278565"/>
                </a:solidFill>
                <a:latin typeface="Aptos"/>
                <a:ea typeface="Aptos"/>
                <a:cs typeface="Aptos"/>
              </a:rPr>
              <a:t>SOURCE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39C32-BC27-4EE4-B02B-CB44CD14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</a:pPr>
            <a:r>
              <a:rPr sz="27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Relevant links and papers to keep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40DFD-C192-4D45-A032-18B674A1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095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35649-CA07-41EF-A3C6-A0B5D9F4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56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28077-D96B-4C7F-97DB-F1BBFF6A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Primary 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F69E9-5C13-4E43-826B-0908EC90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8671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Gen-CRS tutorial page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https://recsys-lab.at/gen-conv-recsys-tutorial/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Tutorial PDF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https://recsys-lab.at/wp-content/uploads/2025/10/Gen-CRS2025_Tutorial.pdf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Music-CRS challenge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https://nlp4musa.github.io/music-crs-challenge/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C1363-8491-49C6-94F3-5D85A2A0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4953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3F97D-791E-4685-873E-A28B466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B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56555-770C-4058-A79D-94F6EFBB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75" b="1">
                <a:solidFill>
                  <a:srgbClr val="15202B"/>
                </a:solidFill>
                <a:latin typeface="Aptos"/>
                <a:ea typeface="Aptos"/>
                <a:cs typeface="Aptos"/>
              </a:rPr>
              <a:t>Useful paper directions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F5BAF-1FF9-4356-B239-8033C9E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33650"/>
            <a:ext cx="47244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Zero-shot CRS: LLMs can reason, but need grounding.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Reindex-Then-Adapt: adapt retrieval indexes to CRS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Unleashing Retrieval Potential: retrieval design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Semi-Structured State Tracking: keep conversational state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13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MemoCRS / CoRE-CoG / MMCRec: memory, collaboration, and multimodal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45952-72BD-4FA9-946A-2FF2A12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E37F5-F6BF-4BAA-9F11-7E84FBBE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2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53AD3-4E1D-4EE0-A9E7-F86C785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8248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How to use the source pack: treat the tutorial as architecture vocabulary, then use local metrics to decide which ideas survive in this competition.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66C75-8C8C-4398-BB1B-2A4846DF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3885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25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See artifacts/relevant_links_and_architecture.md for DOI links, architecture sketches, and Music-CRS mapping notes.</a:t>
            </a:r>
          </a:p>
        </p:txBody>
      </p:sp>
    </p:spTree>
    <p:extLst>
      <p:ext uri="{BB962C8B-B14F-4D97-AF65-F5344CB8AC3E}">
        <p14:creationId xmlns:p14="http://schemas.microsoft.com/office/powerpoint/2010/main" val="2074054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2026-05-23T18:46:11.9450000Z</dcterms:created>
  <dcterms:modified xsi:type="dcterms:W3CDTF">2026-05-23T18:46:11.9450000Z</dcterms:modified>
</coreProperties>
</file>